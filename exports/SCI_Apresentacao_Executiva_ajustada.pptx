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73152"/>
            <a:ext cx="12042648" cy="6711696"/>
          </a:xfrm>
          <a:prstGeom prst="rect">
            <a:avLst/>
          </a:prstGeom>
          <a:solidFill>
            <a:srgbClr val="122A46"/>
          </a:solidFill>
          <a:ln>
            <a:solidFill>
              <a:srgbClr val="12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173554"/>
          </a:solidFill>
          <a:ln>
            <a:solidFill>
              <a:srgbClr val="8FB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DFEBFF"/>
                </a:solidFill>
              </a:rPr>
              <a:t>ETAPA 1 · PLATAFORMA E FUNDAMENTOS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🎬 ETAPA 1 — O SCI COMO PLATAFORMA DE DECISÃO</a:t>
            </a:r>
          </a:p>
          <a:p>
            <a:pPr algn="l"/>
            <a:r>
              <a:rPr sz="919" b="1">
                <a:solidFill>
                  <a:srgbClr val="F5F9FF"/>
                </a:solidFill>
              </a:rPr>
              <a:t>Como o SCI organiza dados, regras e narrativa para transformar custo industrial em decisão executiva</a:t>
            </a:r>
          </a:p>
          <a:p>
            <a:pPr algn="l"/>
            <a:r>
              <a:rPr sz="800">
                <a:solidFill>
                  <a:srgbClr val="D6E6FF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DFEBFF"/>
                </a:solidFill>
              </a:rPr>
              <a:t>O QUE SERÁ ABORDADO NESTA ETAPA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709928"/>
            <a:ext cx="11594592" cy="2944368"/>
          </a:xfrm>
          <a:prstGeom prst="roundRect">
            <a:avLst/>
          </a:prstGeom>
          <a:solidFill>
            <a:srgbClr val="173554"/>
          </a:solidFill>
          <a:ln>
            <a:solidFill>
              <a:srgbClr val="4C6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1. 🎬 O SCI como Plataforma de Decisão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2. 👥 Quem Sustenta a Plataforma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3. 🧱 Arquitetura da Plataforma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4. 🧱 Plataforma em Operação e Escala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5. 🧭 Como a Plataforma se Organiza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6. 📥 Como o Dado Entra e se Torna Confiável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7. 🌊 Como o Desvio é Explicado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 / 17  ·  Layout: opening  ·  Fonte única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Este slide serve como contrato narrativo da Etapa 1. Ele prepara o público para entender a base antes dos diferenciais.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VISÃO GERAL · STELLANTIS COST INTELLIGENCE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🎬 O SCI como Plataforma de Decisão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O SCI transforma dado industrial bruto em plataforma de decisão executiva sobre custos.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1 — Plataforma e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MENSAGEM CENTRAL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Um ponto único para custo, volume, flex, waterfall, forecast, alertas e IA aplicada.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A mesma base técnica atende leitura operacional, conversa gerencial e escala cloud sem retrabalho.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O SCI reduz o tempo entre detectar o desvio, explicar a causa e coordenar a reação.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15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QUATRO PAPÉIS DO SCI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🔍 Entender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Consolida custo, volume e contexto na mesma conversa executiva.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6684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🎯 Explicar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Waterfall, flex e rastreabilidade mostram causa, não só o valor final.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📈 Projetar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Best Estimate transforma histórico em cenário futuro com premissas explícitas.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7988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🔔 Agir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Alertas, relatórios e Copilot encurtam o ciclo entre análise e decisão.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2 / 17  ·  Layout: opening  ·  Fonte única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Abrir posicionando o SCI como sistema de decisão, não como dashboard isolado. Mostrar que o projeto elimina o ciclo manual de consolidação, interpretação e comunicação de custo.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EQUIPE DO PROJETO · SCI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👥 Quem Sustenta a Plataforma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O SCI foi construído por um núcleo enxuto que cobre produto, lógica econômica, experiência analítica e direção funcional.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1 — Plataforma e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MENSAGEM DO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Time pequeno, mas com cobertura direta de produto, cálculo, interface e direção funcional.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Cada integrante fecha uma lacuna crítica para transformar dado industrial em narrativa executiva confiável.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A combinação do time explica velocidade de execução com aderência ao negócio.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15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NÚCLEO QUE SUSTENTA O SCI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52927"/>
            <a:ext cx="3767328" cy="2240280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40" b="1">
                <a:solidFill>
                  <a:srgbClr val="12344D"/>
                </a:solidFill>
              </a:rPr>
              <a:t>
Hudson Cardin</a:t>
            </a:r>
          </a:p>
          <a:p>
            <a:pPr algn="ctr"/>
            <a:r>
              <a:rPr sz="700" b="1">
                <a:solidFill>
                  <a:srgbClr val="0F766E"/>
                </a:solidFill>
              </a:rPr>
              <a:t>Full-Stack Developer</a:t>
            </a:r>
          </a:p>
          <a:p>
            <a:pPr algn="ctr"/>
            <a:r>
              <a:rPr sz="720">
                <a:solidFill>
                  <a:srgbClr val="486581"/>
                </a:solidFill>
              </a:rPr>
              <a:t>Desenvolvendo tanto a interface quanto a lógica e os cálculos do sistema</a:t>
            </a:r>
          </a:p>
          <a:p>
            <a:r>
              <a:rPr sz="690">
                <a:solidFill>
                  <a:srgbClr val="215260"/>
                </a:solidFill>
              </a:rPr>
              <a:t>Contribuição central: Arquitetura, lógica de negócio, interface e integração ponta a ponta do SCI.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2962656"/>
            <a:ext cx="822960" cy="914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9664" y="2852927"/>
            <a:ext cx="3767328" cy="2240280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40" b="1">
                <a:solidFill>
                  <a:srgbClr val="12344D"/>
                </a:solidFill>
              </a:rPr>
              <a:t>
Lauro Paiva Junior</a:t>
            </a:r>
          </a:p>
          <a:p>
            <a:pPr algn="ctr"/>
            <a:r>
              <a:rPr sz="700" b="1">
                <a:solidFill>
                  <a:srgbClr val="0F766E"/>
                </a:solidFill>
              </a:rPr>
              <a:t>Full-Stack Developer</a:t>
            </a:r>
          </a:p>
          <a:p>
            <a:pPr algn="ctr"/>
            <a:r>
              <a:rPr sz="720">
                <a:solidFill>
                  <a:srgbClr val="486581"/>
                </a:solidFill>
              </a:rPr>
              <a:t>Desenvolvendo tanto a interface quanto a lógica e os cálculos do sistema</a:t>
            </a:r>
          </a:p>
          <a:p>
            <a:r>
              <a:rPr sz="690">
                <a:solidFill>
                  <a:srgbClr val="215260"/>
                </a:solidFill>
              </a:rPr>
              <a:t>Contribuição central: Experiência analítica, visualização, consistência dos indicadores e evolução funcional.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2962656"/>
            <a:ext cx="82296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83296" y="2852927"/>
            <a:ext cx="3767328" cy="2240280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940" b="1">
                <a:solidFill>
                  <a:srgbClr val="12344D"/>
                </a:solidFill>
              </a:rPr>
              <a:t>
Frederico Cesar de Jesus</a:t>
            </a:r>
          </a:p>
          <a:p>
            <a:pPr algn="ctr"/>
            <a:r>
              <a:rPr sz="700" b="1">
                <a:solidFill>
                  <a:srgbClr val="0F766E"/>
                </a:solidFill>
              </a:rPr>
              <a:t>Tech Advisor</a:t>
            </a:r>
          </a:p>
          <a:p>
            <a:pPr algn="ctr"/>
            <a:r>
              <a:rPr sz="720">
                <a:solidFill>
                  <a:srgbClr val="486581"/>
                </a:solidFill>
              </a:rPr>
              <a:t>Orientação técnica estratégica, validações e suporte de alto nível ao projeto</a:t>
            </a:r>
          </a:p>
          <a:p>
            <a:r>
              <a:rPr sz="690">
                <a:solidFill>
                  <a:srgbClr val="215260"/>
                </a:solidFill>
              </a:rPr>
              <a:t>Contribuição central: Direção funcional, aderência à controladoria e validação executiva do produto.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962656"/>
            <a:ext cx="82296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3 / 17  ·  Layout: team-grid  ·  Fonte única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Apresentar a equipe como prova de execução: produto, motor analítico e direção funcional convivendo no mesmo núcleo.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PLATAFORMA TÉCNICA INTEGRADA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🧱 Arquitetura da Plataforma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O SCI já opera como sistema de engenharia, dados, cloud e inteligência aplicada.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1 — Plataforma e Fundamentos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1572768"/>
            <a:ext cx="2816352" cy="786384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D5F3F4"/>
                </a:solidFill>
              </a:rPr>
              <a:t>ARQUIVOS CORE</a:t>
            </a:r>
          </a:p>
          <a:p>
            <a:pPr algn="l"/>
            <a:r>
              <a:rPr sz="1550" b="1">
                <a:solidFill>
                  <a:srgbClr val="FFFFFF"/>
                </a:solidFill>
              </a:rPr>
              <a:t>62</a:t>
            </a:r>
          </a:p>
          <a:p>
            <a:pPr algn="l"/>
            <a:r>
              <a:rPr sz="700">
                <a:solidFill>
                  <a:srgbClr val="E6FFFB"/>
                </a:solidFill>
              </a:rPr>
              <a:t>núcleo principal da aplicação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82112" y="1572768"/>
            <a:ext cx="2816352" cy="786384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D5F3F4"/>
                </a:solidFill>
              </a:rPr>
              <a:t>LINHAS CORE</a:t>
            </a:r>
          </a:p>
          <a:p>
            <a:pPr algn="l"/>
            <a:r>
              <a:rPr sz="1550" b="1">
                <a:solidFill>
                  <a:srgbClr val="FFFFFF"/>
                </a:solidFill>
              </a:rPr>
              <a:t>84k+</a:t>
            </a:r>
          </a:p>
          <a:p>
            <a:pPr algn="l"/>
            <a:r>
              <a:rPr sz="700">
                <a:solidFill>
                  <a:srgbClr val="E6FFFB"/>
                </a:solidFill>
              </a:rPr>
              <a:t>código Python no núcleo do produto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8192" y="1572768"/>
            <a:ext cx="2816352" cy="786384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D5F3F4"/>
                </a:solidFill>
              </a:rPr>
              <a:t>TELAS</a:t>
            </a:r>
          </a:p>
          <a:p>
            <a:pPr algn="l"/>
            <a:r>
              <a:rPr sz="1550" b="1">
                <a:solidFill>
                  <a:srgbClr val="FFFFFF"/>
                </a:solidFill>
              </a:rPr>
              <a:t>15</a:t>
            </a:r>
          </a:p>
          <a:p>
            <a:pPr algn="l"/>
            <a:r>
              <a:rPr sz="700">
                <a:solidFill>
                  <a:srgbClr val="E6FFFB"/>
                </a:solidFill>
              </a:rPr>
              <a:t>jornadas Streamlit em operação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34272" y="1572768"/>
            <a:ext cx="2816352" cy="786384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D5F3F4"/>
                </a:solidFill>
              </a:rPr>
              <a:t>BLOCOS</a:t>
            </a:r>
          </a:p>
          <a:p>
            <a:pPr algn="l"/>
            <a:r>
              <a:rPr sz="1550" b="1">
                <a:solidFill>
                  <a:srgbClr val="FFFFFF"/>
                </a:solidFill>
              </a:rPr>
              <a:t>7</a:t>
            </a:r>
          </a:p>
          <a:p>
            <a:pPr algn="l"/>
            <a:r>
              <a:rPr sz="700">
                <a:solidFill>
                  <a:srgbClr val="E6FFFB"/>
                </a:solidFill>
              </a:rPr>
              <a:t>camadas centrais de responsabilidade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2468880"/>
            <a:ext cx="5715000" cy="987552"/>
          </a:xfrm>
          <a:prstGeom prst="roundRect">
            <a:avLst/>
          </a:prstGeom>
          <a:solidFill>
            <a:srgbClr val="FBFD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60" b="1">
                <a:solidFill>
                  <a:srgbClr val="12344D"/>
                </a:solidFill>
              </a:rPr>
              <a:t>Arquivos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5495544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60" b="1">
                <a:solidFill>
                  <a:srgbClr val="486581"/>
                </a:solidFill>
              </a:rPr>
              <a:t>Núcleo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2144" y="2747772"/>
            <a:ext cx="3977639" cy="73152"/>
          </a:xfrm>
          <a:prstGeom prst="rect">
            <a:avLst/>
          </a:prstGeom>
          <a:solidFill>
            <a:srgbClr val="E7EEF5"/>
          </a:solidFill>
          <a:ln>
            <a:solidFill>
              <a:srgbClr val="E7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144" y="2747772"/>
            <a:ext cx="833154" cy="73152"/>
          </a:xfrm>
          <a:prstGeom prst="rect">
            <a:avLst/>
          </a:prstGeom>
          <a:solidFill>
            <a:srgbClr val="2C7A7B"/>
          </a:solidFill>
          <a:ln>
            <a:solidFill>
              <a:srgbClr val="2C7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12664" y="2724912"/>
            <a:ext cx="5486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660" b="1">
                <a:solidFill>
                  <a:srgbClr val="12344D"/>
                </a:solidFill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871216"/>
            <a:ext cx="5495544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60" b="1">
                <a:solidFill>
                  <a:srgbClr val="486581"/>
                </a:solidFill>
              </a:rPr>
              <a:t>Workspace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2144" y="2894076"/>
            <a:ext cx="3977639" cy="73152"/>
          </a:xfrm>
          <a:prstGeom prst="rect">
            <a:avLst/>
          </a:prstGeom>
          <a:solidFill>
            <a:srgbClr val="E7EEF5"/>
          </a:solidFill>
          <a:ln>
            <a:solidFill>
              <a:srgbClr val="E7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2144" y="2894076"/>
            <a:ext cx="3977639" cy="73152"/>
          </a:xfrm>
          <a:prstGeom prst="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871216"/>
            <a:ext cx="5486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660" b="1">
                <a:solidFill>
                  <a:srgbClr val="12344D"/>
                </a:solidFill>
              </a:rPr>
              <a:t>296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73552"/>
            <a:ext cx="5495544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20">
                <a:solidFill>
                  <a:srgbClr val="627D98"/>
                </a:solidFill>
              </a:rPr>
              <a:t>62 no núcleo principal e 296 no workspace ampliado atual.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2468880"/>
            <a:ext cx="5715000" cy="987552"/>
          </a:xfrm>
          <a:prstGeom prst="roundRect">
            <a:avLst/>
          </a:prstGeom>
          <a:solidFill>
            <a:srgbClr val="FBFD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60" b="1">
                <a:solidFill>
                  <a:srgbClr val="12344D"/>
                </a:solidFill>
              </a:rPr>
              <a:t>Linhas de código 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724912"/>
            <a:ext cx="5495544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60" b="1">
                <a:solidFill>
                  <a:srgbClr val="486581"/>
                </a:solidFill>
              </a:rPr>
              <a:t>Núcleo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31736" y="2747772"/>
            <a:ext cx="3977639" cy="73152"/>
          </a:xfrm>
          <a:prstGeom prst="rect">
            <a:avLst/>
          </a:prstGeom>
          <a:solidFill>
            <a:srgbClr val="E7EEF5"/>
          </a:solidFill>
          <a:ln>
            <a:solidFill>
              <a:srgbClr val="E7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31736" y="2747772"/>
            <a:ext cx="1099132" cy="731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92256" y="2724912"/>
            <a:ext cx="5486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660" b="1">
                <a:solidFill>
                  <a:srgbClr val="12344D"/>
                </a:solidFill>
              </a:rPr>
              <a:t>84k+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871216"/>
            <a:ext cx="5495544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60" b="1">
                <a:solidFill>
                  <a:srgbClr val="486581"/>
                </a:solidFill>
              </a:rPr>
              <a:t>Workspace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31736" y="2894076"/>
            <a:ext cx="3977639" cy="73152"/>
          </a:xfrm>
          <a:prstGeom prst="rect">
            <a:avLst/>
          </a:prstGeom>
          <a:solidFill>
            <a:srgbClr val="E7EEF5"/>
          </a:solidFill>
          <a:ln>
            <a:solidFill>
              <a:srgbClr val="E7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31736" y="2894076"/>
            <a:ext cx="3977639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92256" y="2871216"/>
            <a:ext cx="548640" cy="1463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660" b="1">
                <a:solidFill>
                  <a:srgbClr val="12344D"/>
                </a:solidFill>
              </a:rPr>
              <a:t>306k+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273552"/>
            <a:ext cx="5495544" cy="12801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620">
                <a:solidFill>
                  <a:srgbClr val="627D98"/>
                </a:solidFill>
              </a:rPr>
              <a:t>84 mil+ no núcleo do produto e 306 mil+ no ecossistema ampliado.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3566160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STACK TECNOLÓGICO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" y="3703320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🐍 Python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Linguagem-base do SCI, unificando regras, processamento, integração e app.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51376" y="3703320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📺 Streamlit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Camada de interface analítica com velocidade alta de evolução de produto.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703320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☁️ Databricks Apps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Execução cloud do app com publicação e operação corporativa.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" y="4416552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❄️ Snowflake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Camada de dados e integração analítica no ecossistema ampliado.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51376" y="4416552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🧬 Git / GitHub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Versionamento, governança de mudança e rastreabilidade do código.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4416552"/>
            <a:ext cx="3803904" cy="62179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🤖 Serving Endpoints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Base de APIs e recursos de IA usados pelo TC Copilot.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" y="5129784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🐼 pandas + numpy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Transformação, modelagem e manipulação intensiva de dados.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51376" y="5129784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📈 Altair + Plotly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Visualização interativa, comparativos e leitura executiva dos números.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5129784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📦 openpyxl + PyArrow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Exportação Excel e persistência rápida em Parquet.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" y="5861304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ATRIBUTOS DA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" y="5998464"/>
            <a:ext cx="11594592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80">
                <a:solidFill>
                  <a:srgbClr val="486581"/>
                </a:solidFill>
              </a:rPr>
              <a:t>A base técnica já foi desenhada para suportar leitura executiva rápida sem perder profundidade operacional nem histórico de decisão.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" y="6217920"/>
            <a:ext cx="1828800" cy="201168"/>
          </a:xfrm>
          <a:prstGeom prst="roundRect">
            <a:avLst/>
          </a:prstGeom>
          <a:solidFill>
            <a:srgbClr val="F1FAF9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00" b="1">
                <a:solidFill>
                  <a:srgbClr val="12344D"/>
                </a:solidFill>
              </a:rPr>
              <a:t>Dados estruturados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57984" y="6217920"/>
            <a:ext cx="1362456" cy="201168"/>
          </a:xfrm>
          <a:prstGeom prst="roundRect">
            <a:avLst/>
          </a:prstGeom>
          <a:solidFill>
            <a:srgbClr val="F1FAF9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00" b="1">
                <a:solidFill>
                  <a:srgbClr val="12344D"/>
                </a:solidFill>
              </a:rPr>
              <a:t>Cloud ready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93592" y="6217920"/>
            <a:ext cx="1828800" cy="201168"/>
          </a:xfrm>
          <a:prstGeom prst="roundRect">
            <a:avLst/>
          </a:prstGeom>
          <a:solidFill>
            <a:srgbClr val="F1FAF9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00" b="1">
                <a:solidFill>
                  <a:srgbClr val="12344D"/>
                </a:solidFill>
              </a:rPr>
              <a:t>Forecast + alertas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95544" y="6217920"/>
            <a:ext cx="1280160" cy="201168"/>
          </a:xfrm>
          <a:prstGeom prst="roundRect">
            <a:avLst/>
          </a:prstGeom>
          <a:solidFill>
            <a:srgbClr val="F1FAF9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00" b="1">
                <a:solidFill>
                  <a:srgbClr val="12344D"/>
                </a:solidFill>
              </a:rPr>
              <a:t>TC Copilot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48856" y="6217920"/>
            <a:ext cx="1828800" cy="201168"/>
          </a:xfrm>
          <a:prstGeom prst="roundRect">
            <a:avLst/>
          </a:prstGeom>
          <a:solidFill>
            <a:srgbClr val="F1FAF9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00" b="1">
                <a:solidFill>
                  <a:srgbClr val="12344D"/>
                </a:solidFill>
              </a:rPr>
              <a:t>Governança e rastreabilidade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4 / 17  ·  Layout: tech-overview  ·  Fonte única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Abrir a dimensão técnica com a tese central da Visão Geral Técnica: o SCI já é uma plataforma integrada, não apenas uma interface analítica.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ESPINHA DORSAL E MATURIDADE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🧱 Plataforma em Operação e Escala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A espinha dorsal do SCI conecta pipeline, persistência, análise, interface e governança em uma mesma trilha de produto.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1 — Plataforma e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ARQUITETURA EM UMA LEITURA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01  Fonte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Excel, bases corporativas e insumos operacionais entram com estrutura controlada.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3568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02  Processamento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Normalização, transformação, persistência e publicação em fluxo repetível.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1104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03  Armazenamento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Parquets, históricos, budget e forecast sustentam leitura rápida e auditável.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253288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04  Análise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Camadas analíticas transformam o dado bruto em sinal executivo e operacional.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3568" y="253288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05  Interface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A experiência do usuário integra leitura, comparação, forecast, alertas e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374136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PILARES DO PRODUTO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3511296"/>
            <a:ext cx="2231136" cy="585216"/>
          </a:xfrm>
          <a:prstGeom prst="roundRect">
            <a:avLst/>
          </a:prstGeom>
          <a:solidFill>
            <a:srgbClr val="F8FB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40" b="1">
                <a:solidFill>
                  <a:srgbClr val="12344D"/>
                </a:solidFill>
              </a:rPr>
              <a:t>Dados</a:t>
            </a:r>
          </a:p>
          <a:p>
            <a:pPr algn="ctr"/>
            <a:r>
              <a:rPr sz="690">
                <a:solidFill>
                  <a:srgbClr val="486581"/>
                </a:solidFill>
              </a:rPr>
              <a:t>bases, histórico e persistência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6896" y="3511296"/>
            <a:ext cx="2231136" cy="585216"/>
          </a:xfrm>
          <a:prstGeom prst="roundRect">
            <a:avLst/>
          </a:prstGeom>
          <a:solidFill>
            <a:srgbClr val="F8FB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40" b="1">
                <a:solidFill>
                  <a:srgbClr val="12344D"/>
                </a:solidFill>
              </a:rPr>
              <a:t>Regras</a:t>
            </a:r>
          </a:p>
          <a:p>
            <a:pPr algn="ctr"/>
            <a:r>
              <a:rPr sz="690">
                <a:solidFill>
                  <a:srgbClr val="486581"/>
                </a:solidFill>
              </a:rPr>
              <a:t>contratos e lógica compartilhada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511296"/>
            <a:ext cx="2231136" cy="585216"/>
          </a:xfrm>
          <a:prstGeom prst="roundRect">
            <a:avLst/>
          </a:prstGeom>
          <a:solidFill>
            <a:srgbClr val="F8FB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40" b="1">
                <a:solidFill>
                  <a:srgbClr val="12344D"/>
                </a:solidFill>
              </a:rPr>
              <a:t>Visualização</a:t>
            </a:r>
          </a:p>
          <a:p>
            <a:pPr algn="ctr"/>
            <a:r>
              <a:rPr sz="690">
                <a:solidFill>
                  <a:srgbClr val="486581"/>
                </a:solidFill>
              </a:rPr>
              <a:t>dashboards e leitura executiva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8624" y="3511296"/>
            <a:ext cx="2231136" cy="585216"/>
          </a:xfrm>
          <a:prstGeom prst="roundRect">
            <a:avLst/>
          </a:prstGeom>
          <a:solidFill>
            <a:srgbClr val="F8FB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40" b="1">
                <a:solidFill>
                  <a:srgbClr val="12344D"/>
                </a:solidFill>
              </a:rPr>
              <a:t>Simulação</a:t>
            </a:r>
          </a:p>
          <a:p>
            <a:pPr algn="ctr"/>
            <a:r>
              <a:rPr sz="690">
                <a:solidFill>
                  <a:srgbClr val="486581"/>
                </a:solidFill>
              </a:rPr>
              <a:t>forecast e cenários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9488" y="3511296"/>
            <a:ext cx="2231136" cy="585216"/>
          </a:xfrm>
          <a:prstGeom prst="roundRect">
            <a:avLst/>
          </a:prstGeom>
          <a:solidFill>
            <a:srgbClr val="F8FB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40" b="1">
                <a:solidFill>
                  <a:srgbClr val="12344D"/>
                </a:solidFill>
              </a:rPr>
              <a:t>IA</a:t>
            </a:r>
          </a:p>
          <a:p>
            <a:pPr algn="ctr"/>
            <a:r>
              <a:rPr sz="690">
                <a:solidFill>
                  <a:srgbClr val="486581"/>
                </a:solidFill>
              </a:rPr>
              <a:t>copilot e resposta inteligente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5 / 17  ·  Layout: tech-overview  ·  Fonte única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Fechar a dupla técnica mostrando a espinha dorsal do produto e os pilares visíveis que organizam o SCI como plataforma.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NAVEGAÇÃO EXECUTIVA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🧭 Como a Plataforma se Organiza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A estrutura do SCI leva o usuário do contexto geral ao diagnóstico e à ação em uma trilha única.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1 — Plataforma e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LEITURA DA NAVEGAÇÃO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Home e módulos centrais concentram a leitura rápida do mês e o ponto de partida da análise.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Waterfall e Best Estimate explicam presente e futuro pela mesma base econômica.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Alertas, Copilot e documentação fecham governança, comunicação e autonomia do usuário.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15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MAPA DOS MÓDULOS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🏠 Home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KPIs, contexto do mês e desvio rápido.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6684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🏭 TC Ext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Análise por oficina, account, real, budget e flex.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🚗 TC Veículos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Cadeia de custo até o veículo, rateio e CPU.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7988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🌊 Waterfall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Leitura Budget → Flex → Real pela causa econômica.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3803904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🔮 Best Estimate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Forecast com premissas configuráveis e ajuste manual.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86684" y="3803904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🚨 Alertas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Prioridade, ranking e comunicação acionável.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3803904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🤖 TC Copilot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Resposta rápida e síntese executiva do SCI.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7988" y="3803904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📚 Documentação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Regras, arquitetura, onboarding e memória técnica.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6 / 17  ·  Layout: system-map  ·  Fonte única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Conduzir a leitura como arquitetura de produto, não como lista de telas. Cada bloco tem uma função especializada no ciclo de análise.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BASE CONFIÁVEL ANTES DA ANÁLISE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📥 Como o Dado Entra e se Torna Confiável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O número só ganha legitimidade quando entra validado, tratado e persistido no formato certo.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1 — Plataforma e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POR QUE ESTE SLIDE IMPORTA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Entrada de Excel e SAP é normalizada antes de qualquer visualização ou fechamento.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Parquet vira contrato de velocidade, consistência e reuso entre local, executável e cloud.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Flex Budget já nasce apoiado em custo fixo, custo variável e volume coerente.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15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PIPELINE DO DADO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52927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01  Excel / SAP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Fontes operacionais e corporativas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3568" y="2852927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02  Validação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Abas, colunas e período corretos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1104" y="2852927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03  Tratamento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Normalização, merge, correções e rateios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3675887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04  Parquet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Persistência auditável e rápida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3568" y="3675887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05  App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Consumo unificado nos módulos do SCI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517136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FÓRMULA DE LEITURA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4654296"/>
            <a:ext cx="11594592" cy="585216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80" b="1">
                <a:solidFill>
                  <a:srgbClr val="12344D"/>
                </a:solidFill>
              </a:rPr>
              <a:t>Flex Bud = C Fixo + (C Variavel × (Volume Real / Volume Budget))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5349240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EXEMPLO EXECUTIVO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5486400"/>
            <a:ext cx="11594592" cy="62179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8D5B00"/>
                </a:solidFill>
              </a:rPr>
              <a:t>Exemplo executivo: </a:t>
            </a:r>
            <a:r>
              <a:rPr sz="780">
                <a:solidFill>
                  <a:srgbClr val="7C5E10"/>
                </a:solidFill>
              </a:rPr>
              <a:t>Com R$ 180 mil fixos, R$ 320 mil variáveis, volume budget de 40 mil e volume real de 46 mil, o flex ajustado chega perto de R$ 548 mil.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7 / 17  ·  Layout: flow-formula  ·  Fonte única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Enfatizar que a confiança do SCI nasce do pipeline, não do gráfico.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EXPLICAÇÃO ANTES DA REAÇÃO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🌊 Como o Desvio é Explicado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Waterfall traduz o desvio em causa econômica: quanto veio de volume, quanto veio da operação.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1 — Plataforma e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LEITURA ECONÔMICA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Budget é a referência original do plano e do compromisso financeiro assumido.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Flex corrige o esperado para o volume efetivamente realizado, isolando o efeito de mix e produção.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Real mostra o desvio residual que ainda precisa de explicação operacional.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679191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TRÊS BLOCOS DA PONTE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16351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Budget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Ponto de partida do plano original.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51376" y="2816351"/>
            <a:ext cx="3803904" cy="62179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Flex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Valor esperado quando o volume real entra na conta.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816351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Real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Resultado efetivo que precisa ser explicado.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3511296"/>
            <a:ext cx="11594592" cy="512064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80" b="1">
                <a:solidFill>
                  <a:srgbClr val="12344D"/>
                </a:solidFill>
              </a:rPr>
              <a:t>Δ Op = Real - Flex Bud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4096512"/>
            <a:ext cx="11594592" cy="53035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8D5B00"/>
                </a:solidFill>
              </a:rPr>
              <a:t>Exemplo executivo: </a:t>
            </a:r>
            <a:r>
              <a:rPr sz="780">
                <a:solidFill>
                  <a:srgbClr val="7C5E10"/>
                </a:solidFill>
              </a:rPr>
              <a:t>Budget de R$ 600 mil, Flex de R$ 645 mil e Real de R$ 670 mil mostram dois sinais: R$ 45 mil explicados por volume e R$ 25 mil ainda ligados à operação.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8 / 17  ·  Layout: flow-formula  ·  Fonte única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Fechar o slide dizendo que o waterfall muda a conversa de cobrança para diagnóstico.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" y="73152"/>
            <a:ext cx="12042648" cy="6711696"/>
          </a:xfrm>
          <a:prstGeom prst="rect">
            <a:avLst/>
          </a:prstGeom>
          <a:solidFill>
            <a:srgbClr val="122A46"/>
          </a:solidFill>
          <a:ln>
            <a:solidFill>
              <a:srgbClr val="12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1C3F63"/>
          </a:solidFill>
          <a:ln>
            <a:solidFill>
              <a:srgbClr val="8FB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DFEBFF"/>
                </a:solidFill>
              </a:rPr>
              <a:t>ETAPA 2 · FUNCIONALIDADES OURO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🚀 ETAPA 2 — Funcionalidades Ouro</a:t>
            </a:r>
          </a:p>
          <a:p>
            <a:pPr algn="l"/>
            <a:r>
              <a:rPr sz="919" b="1">
                <a:solidFill>
                  <a:srgbClr val="F5F9FF"/>
                </a:solidFill>
              </a:rPr>
              <a:t>Onde a plataforma se torna difícil de substituir: granularidade, antecipação, governança e IA</a:t>
            </a:r>
          </a:p>
          <a:p>
            <a:pPr algn="l"/>
            <a:r>
              <a:rPr sz="800">
                <a:solidFill>
                  <a:srgbClr val="D6E6FF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DFEBFF"/>
                </a:solidFill>
              </a:rPr>
              <a:t>O QUE SERÁ ABORDADO NESTA ETAPA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709928"/>
            <a:ext cx="11594592" cy="3291840"/>
          </a:xfrm>
          <a:prstGeom prst="roundRect">
            <a:avLst/>
          </a:prstGeom>
          <a:solidFill>
            <a:srgbClr val="173554"/>
          </a:solidFill>
          <a:ln>
            <a:solidFill>
              <a:srgbClr val="4C6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1600">
                <a:solidFill>
                  <a:srgbClr val="FFFFFF"/>
                </a:solidFill>
              </a:defRPr>
            </a:pPr>
            <a:r>
              <a:t>1. 🚀 Funcionalidades Avançadas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2. 🧮 TC Veículos: Rateio e Real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3. 🔮 Best Estimate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4. 🤖 TC Copilot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5. 🤖 TC Copilot — Entregas Executivas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6. 🚨 Relatórios e Alertas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7. 🚨 Alertas — Exemplo de Comunicação</a:t>
            </a:r>
          </a:p>
          <a:p>
            <a:pPr algn="l">
              <a:defRPr sz="1600">
                <a:solidFill>
                  <a:srgbClr val="FFFFFF"/>
                </a:solidFill>
              </a:defRPr>
            </a:pPr>
            <a:r>
              <a:t>8. ✅ Conclusão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9 / 17  ·  Layout: opening  ·  Fonte única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Este slide serve como contrato narrativo da Etapa 2. Ele marca a virada entre a base da plataforma e as funcionalidades ouro do SCI.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ETAPA 2 · FUNCIONALIDADES OURO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🚀 Funcionalidades Avançadas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Após a plataforma, o SCI avança para o que o torna difícil de substituir.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MATURIDADE DO SCI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2245766" cy="786384"/>
          </a:xfrm>
          <a:prstGeom prst="roundRect">
            <a:avLst/>
          </a:prstGeom>
          <a:solidFill>
            <a:srgbClr val="FFF4D6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50" b="1">
                <a:solidFill>
                  <a:srgbClr val="8D5B00"/>
                </a:solidFill>
              </a:rPr>
              <a:t>📚 Base estruturada</a:t>
            </a:r>
          </a:p>
          <a:p>
            <a:pPr algn="l"/>
            <a:r>
              <a:rPr sz="660">
                <a:solidFill>
                  <a:srgbClr val="7C5E10"/>
                </a:solidFill>
              </a:rPr>
              <a:t>Dados consolidados, histórico, budget e governança de persistência.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93238" y="1709928"/>
            <a:ext cx="2245766" cy="786384"/>
          </a:xfrm>
          <a:prstGeom prst="roundRect">
            <a:avLst/>
          </a:prstGeom>
          <a:solidFill>
            <a:srgbClr val="FFF4D6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50" b="1">
                <a:solidFill>
                  <a:srgbClr val="8D5B00"/>
                </a:solidFill>
              </a:rPr>
              <a:t>☁️ Cloud ativa</a:t>
            </a:r>
          </a:p>
          <a:p>
            <a:pPr algn="l"/>
            <a:r>
              <a:rPr sz="660">
                <a:solidFill>
                  <a:srgbClr val="7C5E10"/>
                </a:solidFill>
              </a:rPr>
              <a:t>Execução no Databricks Apps com publicação e sincronização controladas.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0444" y="1709928"/>
            <a:ext cx="2245766" cy="786384"/>
          </a:xfrm>
          <a:prstGeom prst="roundRect">
            <a:avLst/>
          </a:prstGeom>
          <a:solidFill>
            <a:srgbClr val="FFF4D6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50" b="1">
                <a:solidFill>
                  <a:srgbClr val="8D5B00"/>
                </a:solidFill>
              </a:rPr>
              <a:t>🔮 Forecast</a:t>
            </a:r>
          </a:p>
          <a:p>
            <a:pPr algn="l"/>
            <a:r>
              <a:rPr sz="660">
                <a:solidFill>
                  <a:srgbClr val="7C5E10"/>
                </a:solidFill>
              </a:rPr>
              <a:t>Simulação e projeção integradas ao produto.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7651" y="1709928"/>
            <a:ext cx="2245766" cy="786384"/>
          </a:xfrm>
          <a:prstGeom prst="roundRect">
            <a:avLst/>
          </a:prstGeom>
          <a:solidFill>
            <a:srgbClr val="FFF4D6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50" b="1">
                <a:solidFill>
                  <a:srgbClr val="8D5B00"/>
                </a:solidFill>
              </a:rPr>
              <a:t>🚨 Alertas</a:t>
            </a:r>
          </a:p>
          <a:p>
            <a:pPr algn="l"/>
            <a:r>
              <a:rPr sz="660">
                <a:solidFill>
                  <a:srgbClr val="7C5E10"/>
                </a:solidFill>
              </a:rPr>
              <a:t>Monitoramento ativo e priorização do que mais importa.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4857" y="1709928"/>
            <a:ext cx="2245766" cy="786384"/>
          </a:xfrm>
          <a:prstGeom prst="roundRect">
            <a:avLst/>
          </a:prstGeom>
          <a:solidFill>
            <a:srgbClr val="FFF4D6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50" b="1">
                <a:solidFill>
                  <a:srgbClr val="8D5B00"/>
                </a:solidFill>
              </a:rPr>
              <a:t>🤖 TC Copilot</a:t>
            </a:r>
          </a:p>
          <a:p>
            <a:pPr algn="l"/>
            <a:r>
              <a:rPr sz="660">
                <a:solidFill>
                  <a:srgbClr val="7C5E10"/>
                </a:solidFill>
              </a:rPr>
              <a:t>IA aplicada para ampliar interpretação, produtividade e explicação.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606040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O QUE MUDA A PARTIR DAQUI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2743200"/>
            <a:ext cx="11594592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TC Veículos reconstrói a cadeia de custo até o nível do veículo e do CPU auditável.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Best Estimate projeta cenários futuros com premissas configuráveis e regra econômica explícita.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Alertas e relatórios transformam análise em monitoramento acionável de rotina.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TC Copilot reduz o tempo para responder, sintetizar e comunicar o resultado.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395020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QUATRO DIFERENCIAIS ESTRUTURAIS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4087368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🧮 Granularidade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Rateio e custo real até o veículo e CPU.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6684" y="4087368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🔮 Antecipação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Forecast com premissas econômicas auditáveis.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4087368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🚨 Comunicação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Desvio vira alerta priorizado e mensagem pronta.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7988" y="4087368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🤖 IA aplicada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Resposta rápida sobre regras, contexto e narrativas.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10 / 17  ·  Layout: stage-break  ·  Fonte única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Usar este slide como transição clara entre visão macro e os diferenciais do SCI.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GRANULARIDADE PRODUTIVA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🧮 TC Veículos: Rateio e Real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No TC Veículos, o SCI reconstrói a cadeia econômica até o veículo para explicar onde o custo realmente nasce.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POR QUE ISSO É DIFERENCIAL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A cadeia separa o que é Redis, o que é FA, o que é FP e o que permanece dedicado ao veículo.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O rateio usa tempo de produção para distribuir custo onde ele foi consumido.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O CPU final passa a ser auditável no nível do veículo e não apenas do consolidado da oficina.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679191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CADEIA DE FORMAÇÃO DO CUSTO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16351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01  Despesa primária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Base econômica da oficina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3568" y="2816351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02  Redis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Abatimento do componente 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1104" y="2816351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03  FA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Separação do fluxo anexo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3547871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04  FP real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Fluxo principal líquido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3568" y="3547871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05  Rateio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Distribuição por tempo de produção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1104" y="3547871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06  CPU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Custo final por unidade produzida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4279392"/>
            <a:ext cx="11594592" cy="512064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80" b="1">
                <a:solidFill>
                  <a:srgbClr val="12344D"/>
                </a:solidFill>
              </a:rPr>
              <a:t>Custo FP = Despesa Primaria - Redis - Custo 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4864608"/>
            <a:ext cx="11594592" cy="53035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8D5B00"/>
                </a:solidFill>
              </a:rPr>
              <a:t>Exemplo executivo: </a:t>
            </a:r>
            <a:r>
              <a:rPr sz="780">
                <a:solidFill>
                  <a:srgbClr val="7C5E10"/>
                </a:solidFill>
              </a:rPr>
              <a:t>Com despesa primária de R$ 1,0 mi, Redis de R$ 70 mil, FA de 25%, D&amp;A dedicada de R$ 30 mil e participação do veículo de 40%, o custo final continua rastreável até o CPU.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11 / 17  ·  Layout: flow-formula  ·  Fonte única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Posicionar este bloco como diferencial estrutural do SCI frente a análises apenas consolidadas.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ANTECIPAÇÃO E CENÁRIO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🔮 Best Estimate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Best Estimate transforma histórico em previsão operacional com lógica econômica explícita.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REGRAS DO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01  Base histórica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Parte de média válida, volume futuro e sensibilidade aderente ao comportamento real do custo.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3568" y="1709928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02  Regra econômica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Aplica efeito de volume primeiro, depois inflação e produtividade, com BE Manual como camada adicional controlada.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1104" y="1709928"/>
            <a:ext cx="3779520" cy="658368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FFFFFF"/>
                </a:solidFill>
              </a:rPr>
              <a:t>03  Saída executiva</a:t>
            </a:r>
          </a:p>
          <a:p>
            <a:pPr algn="l"/>
            <a:r>
              <a:rPr sz="680">
                <a:solidFill>
                  <a:srgbClr val="ECFEFF"/>
                </a:solidFill>
              </a:rPr>
              <a:t>Entrega forecast consolidado no mesmo formato de leitura usado para analisar o realizado.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44144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MOTOR DO BEST ESTIMATE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2578608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📊 Entradas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Média histórica válida, volume futuro, sensibilidade, inflação e produtividade.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6" y="2578608"/>
            <a:ext cx="3803904" cy="62179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⚙️ Regra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Efeito de volume primeiro, bloco monetário depois. BE Manual entra como complemento.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2578608"/>
            <a:ext cx="3803904" cy="621792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80" b="1">
                <a:solidFill>
                  <a:srgbClr val="12344D"/>
                </a:solidFill>
              </a:rPr>
              <a:t>📤 Saídas</a:t>
            </a:r>
          </a:p>
          <a:p>
            <a:pPr algn="l"/>
            <a:r>
              <a:rPr sz="660">
                <a:solidFill>
                  <a:srgbClr val="486581"/>
                </a:solidFill>
              </a:rPr>
              <a:t>Forecast consolidado, histórico separado e forecast rateado por veículo.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273552"/>
            <a:ext cx="11594592" cy="512064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880" b="1">
                <a:solidFill>
                  <a:srgbClr val="12344D"/>
                </a:solidFill>
              </a:rPr>
              <a:t>BE = H médio × F vol × (1 + Infl) × (1 - Prod)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3858768"/>
            <a:ext cx="11594592" cy="53035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8D5B00"/>
                </a:solidFill>
              </a:rPr>
              <a:t>Exemplo executivo: </a:t>
            </a:r>
            <a:r>
              <a:rPr sz="780">
                <a:solidFill>
                  <a:srgbClr val="7C5E10"/>
                </a:solidFill>
              </a:rPr>
              <a:t>Média de R$ 100 mil, volume +15%, sensibilidade 80%, inflação 4% e produtividade 3% levam o BE para algo próximo de R$ 112,9 mil.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12 / 17  ·  Layout: forecast  ·  Fonte única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Valorizar base limpa + premissas configuráveis + regra econômica transparente. O BE não é um chute: é uma lógica auditável.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IA APLICADA AO CONTEXTO SCI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🤖 TC Copilot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TC Copilot adiciona uma camada de interpretação e comunicação rápida sobre a mesma base de regras do SCI.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FUNÇÃO DA CAMADA DE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Chatbot técnico responde com base na documentação e nos contratos do sistema.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Relatórios diários e executivos encurtam a preparação da comunicação gerencial.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Abre caminho para operação multi-planta com a mesma linguagem analítica do SCI.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15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CASOS DE USO IMEDIATOS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💬 Chatbot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Responde dúvidas sobre regras, arquitetura e operação do produto.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6684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📅 Relatório diário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Resume variações e pontos de atenção com rotina mais curta.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📋 Relatório executivo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Transforma detalhe técnico em síntese gerencial pronta para uso.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7988" y="2852927"/>
            <a:ext cx="2802636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🌐 Escala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Facilita replicação entre áreas e futuras plantas usando a mesma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13 / 17  ·  Layout: ai-layer  ·  Fonte única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Posicionar o copilot como acelerador de produtividade e governança do conhecimento.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IA APLICADA AO CONTEXTO SCI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🤖 TC Copilot — Entregas Executivas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O valor do TC Copilot aparece quando ele transforma regra técnica em texto executivo utilizável em segundos.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COMO ELE ENTREGA VALOR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01  Pergunta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Recebe uma dúvida técnica, um pedido executivo ou um gatilho de relatório.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3568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02  Contexto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Lê documentação, contratos do SCI, histórico e lógica do 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1104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03  Resposta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Entrega síntese clara, narrativa pronta e orientação acionável para a gestão.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551176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ENTREGAS QUE VALORIZAM O PRODUTO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2688336"/>
            <a:ext cx="3779520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📅 Relatório diário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Resume variações, highlights e pontos de atenção logo após o fechamento.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3568" y="2688336"/>
            <a:ext cx="3779520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📋 Relatório executivo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Converte detalhe analítico em narrativa gerencial pronta para circular.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1104" y="2688336"/>
            <a:ext cx="3779520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💬 Resposta orientada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Explica regras, indicadores e leitura do SCI com linguagem adaptada ao público.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3639312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EXEMPLO EXECUTIVO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3776472"/>
            <a:ext cx="11594592" cy="62179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8D5B00"/>
                </a:solidFill>
              </a:rPr>
              <a:t>Trecho do resumo executivo gerado: </a:t>
            </a:r>
            <a:r>
              <a:rPr sz="780">
                <a:solidFill>
                  <a:srgbClr val="7C5E10"/>
                </a:solidFill>
              </a:rPr>
              <a:t>No mês de março, o volume real ficou em linha com o budget, enquanto o Custo FP Real fechou abaixo do Budget Flex por ganho operacional concentrado em energy. A principal atenção permaneceu em maintenance, com pressão acima do esperado em materiais de reposição. A leitura executiva recomenda validar as unidades com maior exposição, confirmar a causa dominante e fechar a ação corretiva ainda no fechamento.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14 / 17  ·  Layout: ai-layer  ·  Fonte única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Mostrar o Copilot como multiplicador de produtividade: menos tempo para consolidar, explicar e comunicar o resultado com qualidade executiva.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MONITORAMENTO ACIONÁVEL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🚨 Relatórios e Alertas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SCI fecha o ciclo quando transforma desvio em alerta priorizado e comunicação pronta para a organização.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LEITURA GERENCIAL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Alertas priorizam o que mais pesa no resultado em vez de gerar ruído disperso.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Há validação técnica do cálculo antes do envio para e-mail ou Teams.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Relatórios garantem repetibilidade e escala da comunicação entre áreas.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15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COMPONENTES DA CENTRAL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52927"/>
            <a:ext cx="3779520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📊 Dados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Real, budget, flex e ranking consolidado.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3568" y="2852927"/>
            <a:ext cx="3779520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⚙️ Regras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Thresholds, filtros, hierarquia e severidade.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1104" y="2852927"/>
            <a:ext cx="3779520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📣 Comunicação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Teams, e-mail e uso interno no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803904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PIPELINE DE MONITORAMENTO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3941064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01  Type 05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Origem do desvio e consolidação inicial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3568" y="3941064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02  Type 06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Refino do ranking por agrupamento econômico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1104" y="3941064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03  Account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Detalhe acionável para a linha de gestão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15 / 17  ·  Layout: monitoring  ·  Fonte única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Enquadrar alertas como instrumento de foco gerencial e não só automação de envio.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COMUNICAÇÃO ACIONÁVEL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🚨 Alertas — Exemplo de Comunicação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O ganho real do SCI aparece quando o desvio sai do painel e vira mensagem pronta, priorizada e enviada no tempo certo.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DO CÁLCULO AO ALERTA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01  Leitura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O SCI identifica o desvio mais relevante no fechamento.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3568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02  Priorização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Aplica severidade, ranking e contexto econômico antes do envio.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1104" y="1709928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03  Comunicação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Entrega texto pronto para e-mail, Teams e acompanhamento gerencial.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551176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POR QUE ISSO É OURO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2688336"/>
            <a:ext cx="3779520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⚡ Velocidade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Reduz o tempo entre fechamento, leitura e acionamento da gestão.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3568" y="2688336"/>
            <a:ext cx="3779520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🎯 Foco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Evita ruído e leva a atenção para o que mais pesa no resultado.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1104" y="2688336"/>
            <a:ext cx="3779520" cy="841248"/>
          </a:xfrm>
          <a:prstGeom prst="roundRect">
            <a:avLst/>
          </a:prstGeom>
          <a:solidFill>
            <a:srgbClr val="EEF6FB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📣 Escala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Mantém padrão de comunicação mesmo com aumento de escopo e usuários.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3639312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EXEMPLO EXECUTIVO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3776472"/>
            <a:ext cx="11594592" cy="621792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8D5B00"/>
                </a:solidFill>
              </a:rPr>
              <a:t>Trecho do alerta consolidado enviado: </a:t>
            </a:r>
            <a:r>
              <a:rPr sz="780">
                <a:solidFill>
                  <a:srgbClr val="7C5E10"/>
                </a:solidFill>
              </a:rPr>
              <a:t>Relatório de Alertas - Março | Budget Flex x Real | Severidade: critica. Burden concentrou a principal pressão do fechamento, com maintenance acima do esperado, enquanto energy compensou parte relevante do desvio total. O ranking foi aberto por Type 06, depois Account e unidades de maior impacto, permitindo validar causa, prioridade e plano de ação no mesmo fechamento.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16 / 17  ·  Layout: monitoring  ·  Fonte única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Valorizar o alerta como ouro do projeto: ele fecha o ciclo entre cálculo, priorização e comunicação executiva pronta para uso.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01168"/>
            <a:ext cx="11594592" cy="1225296"/>
          </a:xfrm>
          <a:prstGeom prst="roundRect">
            <a:avLst/>
          </a:prstGeom>
          <a:solidFill>
            <a:srgbClr val="0B1F2A"/>
          </a:solidFill>
          <a:ln>
            <a:solidFill>
              <a:srgbClr val="7D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40" b="1">
                <a:solidFill>
                  <a:srgbClr val="CCFBF1"/>
                </a:solidFill>
              </a:rPr>
              <a:t>MENSAGEM FINAL · COO</a:t>
            </a:r>
          </a:p>
          <a:p>
            <a:pPr algn="l"/>
            <a:r>
              <a:rPr sz="1700" b="1">
                <a:solidFill>
                  <a:srgbClr val="FFFFFF"/>
                </a:solidFill>
              </a:rPr>
              <a:t>✅ Conclusão</a:t>
            </a:r>
          </a:p>
          <a:p>
            <a:pPr algn="l"/>
            <a:r>
              <a:rPr sz="919" b="1">
                <a:solidFill>
                  <a:srgbClr val="F0FDFA"/>
                </a:solidFill>
              </a:rPr>
              <a:t>O SCI se comporta como base de governança de custo industrial com capacidade real de escala.</a:t>
            </a:r>
          </a:p>
          <a:p>
            <a:pPr algn="l"/>
            <a:r>
              <a:rPr sz="800">
                <a:solidFill>
                  <a:srgbClr val="ECFEFF"/>
                </a:solidFill>
              </a:rPr>
              <a:t>ETAPA 2 — Funcionalidades 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572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MENSAGEM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709928"/>
            <a:ext cx="115945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defRPr sz="880">
                <a:solidFill>
                  <a:srgbClr val="486581"/>
                </a:solidFill>
              </a:defRPr>
            </a:pPr>
            <a:r>
              <a:t>O SCI já entrega leitura diária de custo, fechamento analítico e comunicação pronta em ritmo executivo.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A mesma base sustenta cálculo de TC, rateios por veículo, forecast, alertas e uso de IA em segundos.</a:t>
            </a:r>
          </a:p>
          <a:p>
            <a:pPr algn="l">
              <a:defRPr sz="880">
                <a:solidFill>
                  <a:srgbClr val="486581"/>
                </a:solidFill>
              </a:defRPr>
            </a:pPr>
            <a:r>
              <a:t>O sistema mostra capacidade real de ampliar escopo sem perder consistência técnica nem velocidade de resposta.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2715768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QUATRO GANHOS PERMANENTES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2852927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💡 Impacto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Transforma leitura de custo em capacidade real de decisão executiva.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86684" y="2852927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🏛 Governança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Mantém regra, histórico, explicação e narrativa no mesmo lugar.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17336" y="2852927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📐 Escala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Pronto para crescer em módulos, plantas, canais e rotinas.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7988" y="2852927"/>
            <a:ext cx="2802636" cy="841248"/>
          </a:xfrm>
          <a:prstGeom prst="roundRect">
            <a:avLst/>
          </a:prstGeom>
          <a:solidFill>
            <a:srgbClr val="FFF1DA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80" b="1">
                <a:solidFill>
                  <a:srgbClr val="12344D"/>
                </a:solidFill>
              </a:rPr>
              <a:t>🔓 Autonomia</a:t>
            </a:r>
          </a:p>
          <a:p>
            <a:pPr algn="l"/>
            <a:r>
              <a:rPr sz="730">
                <a:solidFill>
                  <a:srgbClr val="486581"/>
                </a:solidFill>
              </a:rPr>
              <a:t>Reduz dependência de controles manuais e interpretação dispersa.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803904"/>
            <a:ext cx="11594592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740" b="1">
                <a:solidFill>
                  <a:srgbClr val="0F4C5C"/>
                </a:solidFill>
              </a:rPr>
              <a:t>CAPACIDADE OPERACIONAL JÁ DEMONSTRADA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941064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01  Fechamento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Consolida e explica o resultado logo após o fechamento mensal.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3568" y="3941064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02  IA em segundos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Gera síntese executiva, resposta contextual e apoio à comunicação.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1104" y="3941064"/>
            <a:ext cx="3779520" cy="731520"/>
          </a:xfrm>
          <a:prstGeom prst="roundRect">
            <a:avLst/>
          </a:prstGeom>
          <a:solidFill>
            <a:srgbClr val="164E63"/>
          </a:solidFill>
          <a:ln>
            <a:solidFill>
              <a:srgbClr val="16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00" b="1">
                <a:solidFill>
                  <a:srgbClr val="FFFFFF"/>
                </a:solidFill>
              </a:rPr>
              <a:t>03  Veículos e rateios</a:t>
            </a:r>
          </a:p>
          <a:p>
            <a:pPr algn="l"/>
            <a:r>
              <a:rPr sz="700">
                <a:solidFill>
                  <a:srgbClr val="ECFEFF"/>
                </a:solidFill>
              </a:rPr>
              <a:t>Leva o custo até o veículo com rastreabilidade do CPU e do rateio.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5742432"/>
            <a:ext cx="11594592" cy="219456"/>
          </a:xfrm>
          <a:prstGeom prst="roundRect">
            <a:avLst/>
          </a:prstGeom>
          <a:solidFill>
            <a:srgbClr val="F8FBFD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720" b="1">
                <a:solidFill>
                  <a:srgbClr val="41576F"/>
                </a:solidFill>
              </a:rPr>
              <a:t>Slide 17 / 17  ·  Layout: closing  ·  Fonte única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6016752"/>
            <a:ext cx="11594592" cy="402336"/>
          </a:xfrm>
          <a:prstGeom prst="roundRect">
            <a:avLst/>
          </a:prstGeom>
          <a:solidFill>
            <a:srgbClr val="F8FAFC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/>
            <a:r>
              <a:rPr sz="819" b="1">
                <a:solidFill>
                  <a:srgbClr val="475569"/>
                </a:solidFill>
              </a:rPr>
              <a:t>Speaker note: </a:t>
            </a:r>
            <a:r>
              <a:rPr sz="819">
                <a:solidFill>
                  <a:srgbClr val="475569"/>
                </a:solidFill>
              </a:rPr>
              <a:t>Fechar mostrando capacidade concreta: alertas diários, relatórios detalhados, IA em segundos e cálculo rastreável até veículos e rateios.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